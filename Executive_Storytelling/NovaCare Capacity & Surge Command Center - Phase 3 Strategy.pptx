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embeddedFontLst>
    <p:embeddedFont>
      <p:font typeface="Inter Light"/>
      <p:regular r:id="rId37"/>
      <p:bold r:id="rId38"/>
      <p:italic r:id="rId39"/>
      <p:boldItalic r:id="rId40"/>
    </p:embeddedFont>
    <p:embeddedFont>
      <p:font typeface="Inter SemiBold"/>
      <p:regular r:id="rId41"/>
      <p:bold r:id="rId42"/>
      <p:italic r:id="rId43"/>
      <p:boldItalic r:id="rId44"/>
    </p:embeddedFont>
    <p:embeddedFont>
      <p:font typeface="Inter"/>
      <p:regular r:id="rId45"/>
      <p:bold r:id="rId46"/>
      <p:italic r:id="rId47"/>
      <p:boldItalic r:id="rId48"/>
    </p:embeddedFont>
    <p:embeddedFont>
      <p:font typeface="Urbanist SemiBold"/>
      <p:regular r:id="rId49"/>
      <p:bold r:id="rId50"/>
      <p:italic r:id="rId51"/>
      <p:boldItalic r:id="rId52"/>
    </p:embeddedFont>
    <p:embeddedFont>
      <p:font typeface="Urbanist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FE562C-868D-4891-9841-AF0665D61D22}">
  <a:tblStyle styleId="{DEFE562C-868D-4891-9841-AF0665D61D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Light-boldItalic.fntdata"/><Relationship Id="rId42" Type="http://schemas.openxmlformats.org/officeDocument/2006/relationships/font" Target="fonts/InterSemiBold-bold.fntdata"/><Relationship Id="rId41" Type="http://schemas.openxmlformats.org/officeDocument/2006/relationships/font" Target="fonts/InterSemiBold-regular.fntdata"/><Relationship Id="rId44" Type="http://schemas.openxmlformats.org/officeDocument/2006/relationships/font" Target="fonts/InterSemiBold-boldItalic.fntdata"/><Relationship Id="rId43" Type="http://schemas.openxmlformats.org/officeDocument/2006/relationships/font" Target="fonts/InterSemiBold-italic.fntdata"/><Relationship Id="rId46" Type="http://schemas.openxmlformats.org/officeDocument/2006/relationships/font" Target="fonts/Inter-bold.fntdata"/><Relationship Id="rId45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-boldItalic.fntdata"/><Relationship Id="rId47" Type="http://schemas.openxmlformats.org/officeDocument/2006/relationships/font" Target="fonts/Inter-italic.fntdata"/><Relationship Id="rId49" Type="http://schemas.openxmlformats.org/officeDocument/2006/relationships/font" Target="fonts/Urbanis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InterLight-regular.fntdata"/><Relationship Id="rId36" Type="http://schemas.openxmlformats.org/officeDocument/2006/relationships/slide" Target="slides/slide30.xml"/><Relationship Id="rId39" Type="http://schemas.openxmlformats.org/officeDocument/2006/relationships/font" Target="fonts/InterLight-italic.fntdata"/><Relationship Id="rId38" Type="http://schemas.openxmlformats.org/officeDocument/2006/relationships/font" Target="fonts/InterLigh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UrbanistSemiBold-italic.fntdata"/><Relationship Id="rId50" Type="http://schemas.openxmlformats.org/officeDocument/2006/relationships/font" Target="fonts/UrbanistSemiBold-bold.fntdata"/><Relationship Id="rId53" Type="http://schemas.openxmlformats.org/officeDocument/2006/relationships/font" Target="fonts/Urbanist-regular.fntdata"/><Relationship Id="rId52" Type="http://schemas.openxmlformats.org/officeDocument/2006/relationships/font" Target="fonts/UrbanistSemiBold-boldItalic.fntdata"/><Relationship Id="rId11" Type="http://schemas.openxmlformats.org/officeDocument/2006/relationships/slide" Target="slides/slide5.xml"/><Relationship Id="rId55" Type="http://schemas.openxmlformats.org/officeDocument/2006/relationships/font" Target="fonts/Urbanist-italic.fntdata"/><Relationship Id="rId10" Type="http://schemas.openxmlformats.org/officeDocument/2006/relationships/slide" Target="slides/slide4.xml"/><Relationship Id="rId54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37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37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Relationship Id="rId8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791741"/>
            <a:ext cx="116014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NovaCare </a:t>
            </a:r>
            <a:r>
              <a:rPr b="1" i="0" lang="en-US" sz="5700" u="none" cap="none" strike="noStrik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Surge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Command Center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382416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Operational Intelligence &amp; Throughput Optimization Dossier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73897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Phase 3: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Visualization &amp; Predictive Modeling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670077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 4 Analytics Strategy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3801"/>
            <a:ext cx="5286375" cy="2241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93801"/>
            <a:ext cx="5286375" cy="224194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42975" y="3127176"/>
            <a:ext cx="48106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Mission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42975" y="3546276"/>
            <a:ext cx="45815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synthesize complex hospital encounter data into real-time visual intelligence, enabling proactive bed management and clinical throughput optimization across the NovaCare Integrated Delivery Network.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05600" y="3127176"/>
            <a:ext cx="48106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Scope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05600" y="3546276"/>
            <a:ext cx="45815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Phase 3 audit focuses on resolving the "Sunday Surge" phenomenon, geriatric boarding crises, and external resource stasis within the 5,000-record clinical dataset.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Team 4 Analysis Governance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4724400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NovaCare maintains a steady-state efficiency, yet systemic surges threaten ward utilization purity.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46137" y="2708969"/>
            <a:ext cx="24288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5000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46137" y="3851969"/>
            <a:ext cx="2428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ADMISSIONS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024288" y="2708969"/>
            <a:ext cx="20193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4.03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024288" y="3851969"/>
            <a:ext cx="20193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GLOBAL AVG LOS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392864" y="2708969"/>
            <a:ext cx="2552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71.2%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392864" y="3851969"/>
            <a:ext cx="25527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HOME DISCHARGE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Dashboard 1: Macro Performance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479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224790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Visual Intelligence Engine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667000"/>
            <a:ext cx="528637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Our Phase 3 visualization engine tracks 10-18 daily admissions in real-time. By identifying temporal surge markers before they saturate the ICU, Team 4 provides a 24-hour predictive advantage.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823096"/>
            <a:ext cx="5286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4B8A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System Load: Baseline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5742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Command Center: Data Surveillance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9875" y="2390775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4333875" y="3914775"/>
            <a:ext cx="14001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71.2%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429375" y="3115716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71.24% Discharge Integrity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429375" y="3572916"/>
            <a:ext cx="29527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3,562 Patients (Home)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429375" y="3940522"/>
            <a:ext cx="29527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785 Patients (Rehab)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429375" y="4308127"/>
            <a:ext cx="29527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520 Patients (SNF)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3596729"/>
            <a:ext cx="200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3964334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75" y="4331940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Discharge Performance Profile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288309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Sunday Surge (737 admissions) accumulation driven by weekend clinical backlog and primary care gaps.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Temporal Analysis: The Sunday Surge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571500" y="4550122"/>
            <a:ext cx="1104900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Unexpected 5 AM peak is an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Administrative documentation dump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not a patient arrival spike. This creates massive workload friction for morning shift transitions.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2629941"/>
            <a:ext cx="11049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5:00 AM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3772941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MAXIMUM DOCUMENTATION LOAD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Chronological Bottleneck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71500" y="4502497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55.1% of volume is reactive/emergency based, requiring high triage agility.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Admission Distribution Profile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0454"/>
            <a:ext cx="5286375" cy="1988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20454"/>
            <a:ext cx="5286375" cy="198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942975" y="3253829"/>
            <a:ext cx="48106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Stay Intensity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942975" y="3672929"/>
            <a:ext cx="458152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Urgent admissions exhibit the highest stay intensity at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4.27 days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compared to the 3.9-day Emergency benchmark.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05600" y="3253829"/>
            <a:ext cx="48106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Complexity Driver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05600" y="3672929"/>
            <a:ext cx="458152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Urgent patients often present with multi-morbidity profiles (e.g., Diabetes + Hypertension), requiring extended diagnostic windows for stabilization.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Urgent Admission Intensity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/>
          <p:nvPr/>
        </p:nvSpPr>
        <p:spPr>
          <a:xfrm>
            <a:off x="5715000" y="2687984"/>
            <a:ext cx="762000" cy="4762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2775585" y="2926109"/>
            <a:ext cx="664083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Ward Utilization Audit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2933700" y="3897659"/>
            <a:ext cx="6324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Section II: Analyzing Misalignment &amp; Bottlenecks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1285875" y="3145184"/>
            <a:ext cx="24003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46.10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1285875" y="4288184"/>
            <a:ext cx="24003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AVG PEDIATRIC AGE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114925" y="3145184"/>
            <a:ext cx="16383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714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5114925" y="4288184"/>
            <a:ext cx="16383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ADULT BOARDERS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8181975" y="3145184"/>
            <a:ext cx="27241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252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8181975" y="4288184"/>
            <a:ext cx="27241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REHAB PLACEMENT BACKLOG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Dashboard 2: Utilization Crisis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200977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9212" y="2019300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 txBox="1"/>
          <p:nvPr/>
        </p:nvSpPr>
        <p:spPr>
          <a:xfrm>
            <a:off x="6334125" y="2009775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Structural Contamination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6334125" y="2428875"/>
            <a:ext cx="528637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Pediatric ward's 46.10 average age identifies a severe structural mismatch. Specialized beds intended for children are currently saturated by geriatric medical overflow.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6334125" y="3331666"/>
            <a:ext cx="5286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Pediatric Ward LOS: 4.26 Days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Pediatric Ward Anomaly</a:t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1854"/>
            <a:ext cx="3524250" cy="2445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691854"/>
            <a:ext cx="3524250" cy="2445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691854"/>
            <a:ext cx="3524250" cy="244584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857250" y="3491954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Staff Stress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857250" y="3911054"/>
            <a:ext cx="29527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Pediatric-trained nurses are managing geriatric chronic cases, resulting in resource fatigue.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4619625" y="3491954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Capacity Drain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4619625" y="3911054"/>
            <a:ext cx="29527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714 Adult Boarders effectively "lock" specialty beds for actual pediatric surgeries.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8382000" y="3491954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Throughput Lag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8382000" y="3911054"/>
            <a:ext cx="29527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Misaligned boarding results in a 10% increase in LOS due to provider-ward friction.</a:t>
            </a:r>
            <a:endParaRPr/>
          </a:p>
        </p:txBody>
      </p:sp>
      <p:pic>
        <p:nvPicPr>
          <p:cNvPr descr="image.png" id="232" name="Google Shape;23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006179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9625" y="3006179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0" y="3006179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Adult Boarding Consequences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/>
          <p:nvPr/>
        </p:nvSpPr>
        <p:spPr>
          <a:xfrm>
            <a:off x="571500" y="2405211"/>
            <a:ext cx="11049000" cy="3019127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26"/>
          <p:cNvGraphicFramePr/>
          <p:nvPr/>
        </p:nvGraphicFramePr>
        <p:xfrm>
          <a:off x="571500" y="24052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{DEFE562C-868D-4891-9841-AF0665D61D22}</a:tableStyleId>
              </a:tblPr>
              <a:tblGrid>
                <a:gridCol w="2446000"/>
                <a:gridCol w="2828775"/>
                <a:gridCol w="2495975"/>
                <a:gridCol w="3278250"/>
              </a:tblGrid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Department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Boarding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Average LOS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Misalignment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Pediatrics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4.26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43F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Surgery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4.10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Orthopedics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4.20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BBF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Medicine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3.90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26"/>
          <p:cNvSpPr/>
          <p:nvPr/>
        </p:nvSpPr>
        <p:spPr>
          <a:xfrm>
            <a:off x="571500" y="3592859"/>
            <a:ext cx="24459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3017490" y="3592859"/>
            <a:ext cx="28287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5846266" y="3592859"/>
            <a:ext cx="24959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8342262" y="3592859"/>
            <a:ext cx="32782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571500" y="4198590"/>
            <a:ext cx="24459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3017490" y="4198590"/>
            <a:ext cx="28287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5846266" y="4198590"/>
            <a:ext cx="24959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8342262" y="4198590"/>
            <a:ext cx="32782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571500" y="4804320"/>
            <a:ext cx="24459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3017490" y="4804320"/>
            <a:ext cx="28287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846266" y="4804320"/>
            <a:ext cx="24959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8342262" y="4804320"/>
            <a:ext cx="32782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571500" y="5410051"/>
            <a:ext cx="24459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3017490" y="5410051"/>
            <a:ext cx="282877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846266" y="5410051"/>
            <a:ext cx="24959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8342262" y="5410051"/>
            <a:ext cx="32782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Adult Boarding Distribution</a:t>
            </a:r>
            <a:endParaRPr/>
          </a:p>
        </p:txBody>
      </p:sp>
      <p:sp>
        <p:nvSpPr>
          <p:cNvPr id="261" name="Google Shape;261;p26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Ward Efficiency Discrepancy</a:t>
            </a:r>
            <a:endParaRPr/>
          </a:p>
        </p:txBody>
      </p:sp>
      <p:sp>
        <p:nvSpPr>
          <p:cNvPr id="269" name="Google Shape;269;p27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6025"/>
            <a:ext cx="216470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278" y="296227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/>
          <p:nvPr/>
        </p:nvSpPr>
        <p:spPr>
          <a:xfrm>
            <a:off x="3307705" y="3182391"/>
            <a:ext cx="872843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Transfer Intensity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3307705" y="3601491"/>
            <a:ext cx="8312794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26.1%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all patients require post-acute transition (Rehab/SNF). This external dependency is the primary cause of bed saturation.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3307705" y="4250977"/>
            <a:ext cx="8312794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Placement Stasis: 252 Seniors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External Transfer Dependency</a:t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9"/>
          <p:cNvSpPr txBox="1"/>
          <p:nvPr/>
        </p:nvSpPr>
        <p:spPr>
          <a:xfrm>
            <a:off x="571500" y="4550122"/>
            <a:ext cx="1104900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Clinical recovery is complete, but bed vacancy is clutched by external partner capacity. These "Discharge Clones" result in a 25% throughput deficit.</a:t>
            </a:r>
            <a:endParaRPr/>
          </a:p>
        </p:txBody>
      </p:sp>
      <p:sp>
        <p:nvSpPr>
          <p:cNvPr id="288" name="Google Shape;288;p29"/>
          <p:cNvSpPr txBox="1"/>
          <p:nvPr/>
        </p:nvSpPr>
        <p:spPr>
          <a:xfrm>
            <a:off x="571500" y="2629941"/>
            <a:ext cx="11049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252</a:t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571500" y="3772941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SENIORS AWAITING REHAB</a:t>
            </a:r>
            <a:endParaRPr/>
          </a:p>
        </p:txBody>
      </p:sp>
      <p:sp>
        <p:nvSpPr>
          <p:cNvPr id="290" name="Google Shape;290;p29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Placement Backlog Crisis</a:t>
            </a: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6607"/>
            <a:ext cx="3524250" cy="2116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856607"/>
            <a:ext cx="3524250" cy="2116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856607"/>
            <a:ext cx="3524250" cy="211633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0"/>
          <p:cNvSpPr txBox="1"/>
          <p:nvPr/>
        </p:nvSpPr>
        <p:spPr>
          <a:xfrm>
            <a:off x="857250" y="314235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Type 2 Diabetes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857250" y="3561457"/>
            <a:ext cx="2952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308 Boarders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857250" y="3999607"/>
            <a:ext cx="29527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Adult overflow from Medicine.</a:t>
            </a:r>
            <a:endParaRPr/>
          </a:p>
        </p:txBody>
      </p:sp>
      <p:sp>
        <p:nvSpPr>
          <p:cNvPr id="303" name="Google Shape;303;p30"/>
          <p:cNvSpPr txBox="1"/>
          <p:nvPr/>
        </p:nvSpPr>
        <p:spPr>
          <a:xfrm>
            <a:off x="4619625" y="314235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Hypertension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4619625" y="3561457"/>
            <a:ext cx="2952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202 Boarders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4619625" y="3999607"/>
            <a:ext cx="29527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Elderly patients in Children's ward.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8382000" y="314235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Pneumonia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8382000" y="3561457"/>
            <a:ext cx="2952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111 Boarders</a:t>
            </a:r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8382000" y="3999607"/>
            <a:ext cx="29527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Adult pulmonary stasis.</a:t>
            </a:r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Pediatric Ward Boarding Profile</a:t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479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571500" y="224790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Boarding Reality</a:t>
            </a:r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571500" y="2667000"/>
            <a:ext cx="528637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Geriatric patients boarding in Pediatrics are primarily treating Chronic Conditions (UTI, Diabetes, Hypertension). This has pushed the ward's LOS to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4.26 days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significantly above the facility baseline.</a:t>
            </a:r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571500" y="3823096"/>
            <a:ext cx="5286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BBF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Status: Severe Misalignment</a:t>
            </a:r>
            <a:endParaRPr/>
          </a:p>
        </p:txBody>
      </p:sp>
      <p:pic>
        <p:nvPicPr>
          <p:cNvPr descr="image.png" id="320" name="Google Shape;32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5742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1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Clinical Purity vs. Overflow</a:t>
            </a:r>
            <a:endParaRPr/>
          </a:p>
        </p:txBody>
      </p:sp>
      <p:sp>
        <p:nvSpPr>
          <p:cNvPr id="322" name="Google Shape;322;p31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2"/>
          <p:cNvSpPr/>
          <p:nvPr/>
        </p:nvSpPr>
        <p:spPr>
          <a:xfrm>
            <a:off x="5715000" y="2687984"/>
            <a:ext cx="762000" cy="47625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 txBox="1"/>
          <p:nvPr/>
        </p:nvSpPr>
        <p:spPr>
          <a:xfrm>
            <a:off x="2460545" y="2926109"/>
            <a:ext cx="727090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Strategic Recovery Plan</a:t>
            </a:r>
            <a:endParaRPr/>
          </a:p>
        </p:txBody>
      </p:sp>
      <p:sp>
        <p:nvSpPr>
          <p:cNvPr id="330" name="Google Shape;330;p32"/>
          <p:cNvSpPr txBox="1"/>
          <p:nvPr/>
        </p:nvSpPr>
        <p:spPr>
          <a:xfrm>
            <a:off x="2633662" y="3897659"/>
            <a:ext cx="69246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Section III: Tactical Recommendations for Team 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8507"/>
            <a:ext cx="3524250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818507"/>
            <a:ext cx="3524250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818507"/>
            <a:ext cx="3524250" cy="21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3"/>
          <p:cNvSpPr txBox="1"/>
          <p:nvPr/>
        </p:nvSpPr>
        <p:spPr>
          <a:xfrm>
            <a:off x="857250" y="361860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</a:t>
            </a:r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857250" y="4037707"/>
            <a:ext cx="29527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4.3 Day LOS. Primary boarding driver for seniors.</a:t>
            </a:r>
            <a:endParaRPr/>
          </a:p>
        </p:txBody>
      </p:sp>
      <p:sp>
        <p:nvSpPr>
          <p:cNvPr id="341" name="Google Shape;341;p33"/>
          <p:cNvSpPr txBox="1"/>
          <p:nvPr/>
        </p:nvSpPr>
        <p:spPr>
          <a:xfrm>
            <a:off x="4619625" y="361860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Pneumonia</a:t>
            </a:r>
            <a:endParaRPr/>
          </a:p>
        </p:txBody>
      </p:sp>
      <p:sp>
        <p:nvSpPr>
          <p:cNvPr id="342" name="Google Shape;342;p33"/>
          <p:cNvSpPr txBox="1"/>
          <p:nvPr/>
        </p:nvSpPr>
        <p:spPr>
          <a:xfrm>
            <a:off x="4619625" y="4037707"/>
            <a:ext cx="29527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4.1 Day LOS. High mortality correlation.</a:t>
            </a:r>
            <a:endParaRPr/>
          </a:p>
        </p:txBody>
      </p:sp>
      <p:sp>
        <p:nvSpPr>
          <p:cNvPr id="343" name="Google Shape;343;p33"/>
          <p:cNvSpPr txBox="1"/>
          <p:nvPr/>
        </p:nvSpPr>
        <p:spPr>
          <a:xfrm>
            <a:off x="8382000" y="361860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Diabetes</a:t>
            </a:r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8382000" y="4037707"/>
            <a:ext cx="29527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4.1 Day LOS. Post-acute dependency anchor.</a:t>
            </a:r>
            <a:endParaRPr/>
          </a:p>
        </p:txBody>
      </p:sp>
      <p:pic>
        <p:nvPicPr>
          <p:cNvPr descr="image.png" id="345" name="Google Shape;34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13283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9625" y="313283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0" y="313283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3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Admission Drivers</a:t>
            </a:r>
            <a:endParaRPr/>
          </a:p>
        </p:txBody>
      </p:sp>
      <p:sp>
        <p:nvSpPr>
          <p:cNvPr id="349" name="Google Shape;349;p33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 txBox="1"/>
          <p:nvPr/>
        </p:nvSpPr>
        <p:spPr>
          <a:xfrm>
            <a:off x="571500" y="5288309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4.35 day LOS for expired patients indicates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Late Arrival saturation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Intervention window is limited to &lt;24 hours.</a:t>
            </a:r>
            <a:endParaRPr/>
          </a:p>
        </p:txBody>
      </p:sp>
      <p:sp>
        <p:nvSpPr>
          <p:cNvPr id="357" name="Google Shape;357;p34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Mortality Markers &amp; Late Arrivals</a:t>
            </a:r>
            <a:endParaRPr/>
          </a:p>
        </p:txBody>
      </p:sp>
      <p:sp>
        <p:nvSpPr>
          <p:cNvPr id="358" name="Google Shape;358;p34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5"/>
          <p:cNvSpPr txBox="1"/>
          <p:nvPr/>
        </p:nvSpPr>
        <p:spPr>
          <a:xfrm>
            <a:off x="1809750" y="3116609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"NovaCare's challenge is not its ability to treat patients, but its ability to discharge them quickly."</a:t>
            </a:r>
            <a:endParaRPr/>
          </a:p>
        </p:txBody>
      </p:sp>
      <p:sp>
        <p:nvSpPr>
          <p:cNvPr id="365" name="Google Shape;365;p35"/>
          <p:cNvSpPr txBox="1"/>
          <p:nvPr/>
        </p:nvSpPr>
        <p:spPr>
          <a:xfrm>
            <a:off x="1809750" y="4316759"/>
            <a:ext cx="85725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— Team 4 Strategic Audit, 2026</a:t>
            </a:r>
            <a:endParaRPr/>
          </a:p>
        </p:txBody>
      </p:sp>
      <p:sp>
        <p:nvSpPr>
          <p:cNvPr id="366" name="Google Shape;366;p35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Efficiency Paradox</a:t>
            </a:r>
            <a:endParaRPr/>
          </a:p>
        </p:txBody>
      </p:sp>
      <p:sp>
        <p:nvSpPr>
          <p:cNvPr id="367" name="Google Shape;367;p35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2" name="Google Shape;37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790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5742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6"/>
          <p:cNvSpPr txBox="1"/>
          <p:nvPr/>
        </p:nvSpPr>
        <p:spPr>
          <a:xfrm>
            <a:off x="6334125" y="224790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Post-Acute Stasis</a:t>
            </a:r>
            <a:endParaRPr/>
          </a:p>
        </p:txBody>
      </p:sp>
      <p:sp>
        <p:nvSpPr>
          <p:cNvPr id="376" name="Google Shape;376;p36"/>
          <p:cNvSpPr txBox="1"/>
          <p:nvPr/>
        </p:nvSpPr>
        <p:spPr>
          <a:xfrm>
            <a:off x="6334125" y="2667000"/>
            <a:ext cx="528637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With 252 seniors awaiting rehab, bed leveling is clutched by external partner capacity. Clinical recovery does not equal bed vacancy at NovaCare.</a:t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6334125" y="3569791"/>
            <a:ext cx="5286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BBF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Status: Discharge Gap Paralysis</a:t>
            </a:r>
            <a:endParaRPr/>
          </a:p>
        </p:txBody>
      </p:sp>
      <p:sp>
        <p:nvSpPr>
          <p:cNvPr id="378" name="Google Shape;378;p36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External Partner Constraints</a:t>
            </a:r>
            <a:endParaRPr/>
          </a:p>
        </p:txBody>
      </p:sp>
      <p:sp>
        <p:nvSpPr>
          <p:cNvPr id="379" name="Google Shape;379;p36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8507"/>
            <a:ext cx="3524250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818507"/>
            <a:ext cx="3524250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818507"/>
            <a:ext cx="3524250" cy="21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7"/>
          <p:cNvSpPr txBox="1"/>
          <p:nvPr/>
        </p:nvSpPr>
        <p:spPr>
          <a:xfrm>
            <a:off x="857250" y="361860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Reallocate 15-20%</a:t>
            </a:r>
            <a:endParaRPr/>
          </a:p>
        </p:txBody>
      </p:sp>
      <p:sp>
        <p:nvSpPr>
          <p:cNvPr id="389" name="Google Shape;389;p37"/>
          <p:cNvSpPr txBox="1"/>
          <p:nvPr/>
        </p:nvSpPr>
        <p:spPr>
          <a:xfrm>
            <a:off x="857250" y="4037707"/>
            <a:ext cx="29527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Transfer Pediatric bed capacity to a dedicated "Adult Overflow" unit.</a:t>
            </a:r>
            <a:endParaRPr/>
          </a:p>
        </p:txBody>
      </p:sp>
      <p:sp>
        <p:nvSpPr>
          <p:cNvPr id="390" name="Google Shape;390;p37"/>
          <p:cNvSpPr txBox="1"/>
          <p:nvPr/>
        </p:nvSpPr>
        <p:spPr>
          <a:xfrm>
            <a:off x="4619625" y="361860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Restore Purity</a:t>
            </a:r>
            <a:endParaRPr/>
          </a:p>
        </p:txBody>
      </p:sp>
      <p:sp>
        <p:nvSpPr>
          <p:cNvPr id="391" name="Google Shape;391;p37"/>
          <p:cNvSpPr txBox="1"/>
          <p:nvPr/>
        </p:nvSpPr>
        <p:spPr>
          <a:xfrm>
            <a:off x="4619625" y="4037707"/>
            <a:ext cx="29527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Ensure specialized pediatric staff focus exclusively on patients &lt;18.</a:t>
            </a:r>
            <a:endParaRPr/>
          </a:p>
        </p:txBody>
      </p:sp>
      <p:sp>
        <p:nvSpPr>
          <p:cNvPr id="392" name="Google Shape;392;p37"/>
          <p:cNvSpPr txBox="1"/>
          <p:nvPr/>
        </p:nvSpPr>
        <p:spPr>
          <a:xfrm>
            <a:off x="8382000" y="3618607"/>
            <a:ext cx="3100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KPI Impact</a:t>
            </a:r>
            <a:endParaRPr/>
          </a:p>
        </p:txBody>
      </p:sp>
      <p:sp>
        <p:nvSpPr>
          <p:cNvPr id="393" name="Google Shape;393;p37"/>
          <p:cNvSpPr txBox="1"/>
          <p:nvPr/>
        </p:nvSpPr>
        <p:spPr>
          <a:xfrm>
            <a:off x="8382000" y="4037707"/>
            <a:ext cx="29527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Projected 0.4 day reduction in Pediatric Ward LOS.</a:t>
            </a:r>
            <a:endParaRPr/>
          </a:p>
        </p:txBody>
      </p:sp>
      <p:pic>
        <p:nvPicPr>
          <p:cNvPr descr="image.png" id="394" name="Google Shape;39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13283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9625" y="313283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2000" y="313283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7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Recommendation 1: Bed Leveling</a:t>
            </a:r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8"/>
          <p:cNvSpPr txBox="1"/>
          <p:nvPr/>
        </p:nvSpPr>
        <p:spPr>
          <a:xfrm>
            <a:off x="571500" y="5288309"/>
            <a:ext cx="11049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 a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15% staffing surge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 Sundays/Mondays to absorb the 737-patient peak.</a:t>
            </a:r>
            <a:endParaRPr/>
          </a:p>
        </p:txBody>
      </p:sp>
      <p:sp>
        <p:nvSpPr>
          <p:cNvPr id="406" name="Google Shape;406;p38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Recommendation 2: Surge Staffing</a:t>
            </a:r>
            <a:endParaRPr/>
          </a:p>
        </p:txBody>
      </p:sp>
      <p:sp>
        <p:nvSpPr>
          <p:cNvPr id="407" name="Google Shape;407;p38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28082"/>
            <a:ext cx="2430660" cy="1468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0669" y="3228082"/>
            <a:ext cx="2430660" cy="1468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9839" y="3228082"/>
            <a:ext cx="2430660" cy="14686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9"/>
          <p:cNvSpPr/>
          <p:nvPr/>
        </p:nvSpPr>
        <p:spPr>
          <a:xfrm>
            <a:off x="571500" y="41529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9"/>
          <p:cNvSpPr txBox="1"/>
          <p:nvPr/>
        </p:nvSpPr>
        <p:spPr>
          <a:xfrm>
            <a:off x="720759" y="3428107"/>
            <a:ext cx="213214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Identify Day 1</a:t>
            </a:r>
            <a:endParaRPr/>
          </a:p>
        </p:txBody>
      </p:sp>
      <p:sp>
        <p:nvSpPr>
          <p:cNvPr id="418" name="Google Shape;418;p39"/>
          <p:cNvSpPr txBox="1"/>
          <p:nvPr/>
        </p:nvSpPr>
        <p:spPr>
          <a:xfrm>
            <a:off x="771525" y="3847207"/>
            <a:ext cx="203061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Tag SNF/Rehab needs at admission.</a:t>
            </a:r>
            <a:endParaRPr/>
          </a:p>
        </p:txBody>
      </p:sp>
      <p:sp>
        <p:nvSpPr>
          <p:cNvPr id="419" name="Google Shape;419;p39"/>
          <p:cNvSpPr txBox="1"/>
          <p:nvPr/>
        </p:nvSpPr>
        <p:spPr>
          <a:xfrm>
            <a:off x="5029929" y="3428107"/>
            <a:ext cx="213214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Auth on Day 2</a:t>
            </a:r>
            <a:endParaRPr/>
          </a:p>
        </p:txBody>
      </p:sp>
      <p:sp>
        <p:nvSpPr>
          <p:cNvPr id="420" name="Google Shape;420;p39"/>
          <p:cNvSpPr txBox="1"/>
          <p:nvPr/>
        </p:nvSpPr>
        <p:spPr>
          <a:xfrm>
            <a:off x="5080694" y="3847207"/>
            <a:ext cx="203061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Pre-auth insurance claims mid-stay.</a:t>
            </a:r>
            <a:endParaRPr/>
          </a:p>
        </p:txBody>
      </p:sp>
      <p:sp>
        <p:nvSpPr>
          <p:cNvPr id="421" name="Google Shape;421;p39"/>
          <p:cNvSpPr txBox="1"/>
          <p:nvPr/>
        </p:nvSpPr>
        <p:spPr>
          <a:xfrm>
            <a:off x="9339098" y="3428107"/>
            <a:ext cx="213214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Exit Day 4</a:t>
            </a:r>
            <a:endParaRPr/>
          </a:p>
        </p:txBody>
      </p:sp>
      <p:sp>
        <p:nvSpPr>
          <p:cNvPr id="422" name="Google Shape;422;p39"/>
          <p:cNvSpPr txBox="1"/>
          <p:nvPr/>
        </p:nvSpPr>
        <p:spPr>
          <a:xfrm>
            <a:off x="9389864" y="3847207"/>
            <a:ext cx="203061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Clear beds by 10 AM on discharge day.</a:t>
            </a:r>
            <a:endParaRPr/>
          </a:p>
        </p:txBody>
      </p:sp>
      <p:sp>
        <p:nvSpPr>
          <p:cNvPr id="423" name="Google Shape;423;p39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Recommendation 3: Rehab Fast Track</a:t>
            </a:r>
            <a:endParaRPr/>
          </a:p>
        </p:txBody>
      </p:sp>
      <p:sp>
        <p:nvSpPr>
          <p:cNvPr id="424" name="Google Shape;424;p39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9"/>
          <p:cNvSpPr/>
          <p:nvPr/>
        </p:nvSpPr>
        <p:spPr>
          <a:xfrm>
            <a:off x="1691580" y="40576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9"/>
          <p:cNvSpPr/>
          <p:nvPr/>
        </p:nvSpPr>
        <p:spPr>
          <a:xfrm>
            <a:off x="6000750" y="40576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9"/>
          <p:cNvSpPr/>
          <p:nvPr/>
        </p:nvSpPr>
        <p:spPr>
          <a:xfrm>
            <a:off x="10309919" y="40576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4B8A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2" name="Google Shape;43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0"/>
          <p:cNvSpPr/>
          <p:nvPr/>
        </p:nvSpPr>
        <p:spPr>
          <a:xfrm>
            <a:off x="571500" y="2405211"/>
            <a:ext cx="11049000" cy="3019127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4" name="Google Shape;434;p40"/>
          <p:cNvGraphicFramePr/>
          <p:nvPr/>
        </p:nvGraphicFramePr>
        <p:xfrm>
          <a:off x="571500" y="24052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{DEFE562C-868D-4891-9841-AF0665D61D22}</a:tableStyleId>
              </a:tblPr>
              <a:tblGrid>
                <a:gridCol w="3147425"/>
                <a:gridCol w="2114700"/>
                <a:gridCol w="3278525"/>
                <a:gridCol w="2508350"/>
              </a:tblGrid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Post-Action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Improvement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Global Avg LOS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4.03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3.70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-8.2%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Pediatric LOS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4.26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3.80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-10.8%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Boarding Conflict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714 Adults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 Adults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Home Discharge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71.2%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+3.8%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40"/>
          <p:cNvSpPr/>
          <p:nvPr/>
        </p:nvSpPr>
        <p:spPr>
          <a:xfrm>
            <a:off x="571500" y="3592859"/>
            <a:ext cx="31474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0"/>
          <p:cNvSpPr/>
          <p:nvPr/>
        </p:nvSpPr>
        <p:spPr>
          <a:xfrm>
            <a:off x="3718917" y="3592859"/>
            <a:ext cx="211469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0"/>
          <p:cNvSpPr/>
          <p:nvPr/>
        </p:nvSpPr>
        <p:spPr>
          <a:xfrm>
            <a:off x="5833616" y="3592859"/>
            <a:ext cx="32785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0"/>
          <p:cNvSpPr/>
          <p:nvPr/>
        </p:nvSpPr>
        <p:spPr>
          <a:xfrm>
            <a:off x="9112150" y="3592859"/>
            <a:ext cx="2508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0"/>
          <p:cNvSpPr/>
          <p:nvPr/>
        </p:nvSpPr>
        <p:spPr>
          <a:xfrm>
            <a:off x="571500" y="4198590"/>
            <a:ext cx="31474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0"/>
          <p:cNvSpPr/>
          <p:nvPr/>
        </p:nvSpPr>
        <p:spPr>
          <a:xfrm>
            <a:off x="3718917" y="4198590"/>
            <a:ext cx="211469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0"/>
          <p:cNvSpPr/>
          <p:nvPr/>
        </p:nvSpPr>
        <p:spPr>
          <a:xfrm>
            <a:off x="5833616" y="4198590"/>
            <a:ext cx="32785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0"/>
          <p:cNvSpPr/>
          <p:nvPr/>
        </p:nvSpPr>
        <p:spPr>
          <a:xfrm>
            <a:off x="9112150" y="4198590"/>
            <a:ext cx="2508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571500" y="4804320"/>
            <a:ext cx="31474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3718917" y="4804320"/>
            <a:ext cx="211469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5833616" y="4804320"/>
            <a:ext cx="32785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9112150" y="4804320"/>
            <a:ext cx="2508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/>
          <p:nvPr/>
        </p:nvSpPr>
        <p:spPr>
          <a:xfrm>
            <a:off x="571500" y="5410051"/>
            <a:ext cx="31474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3718917" y="5410051"/>
            <a:ext cx="211469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5833616" y="5410051"/>
            <a:ext cx="32785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9112150" y="5410051"/>
            <a:ext cx="250834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0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Projected Performance Recovery</a:t>
            </a:r>
            <a:endParaRPr/>
          </a:p>
        </p:txBody>
      </p:sp>
      <p:sp>
        <p:nvSpPr>
          <p:cNvPr id="452" name="Google Shape;452;p40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7" name="Google Shape;45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479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1"/>
          <p:cNvSpPr txBox="1"/>
          <p:nvPr/>
        </p:nvSpPr>
        <p:spPr>
          <a:xfrm>
            <a:off x="571500" y="224790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Phase 3 Conclusion</a:t>
            </a:r>
            <a:endParaRPr/>
          </a:p>
        </p:txBody>
      </p:sp>
      <p:sp>
        <p:nvSpPr>
          <p:cNvPr id="460" name="Google Shape;460;p41"/>
          <p:cNvSpPr txBox="1"/>
          <p:nvPr/>
        </p:nvSpPr>
        <p:spPr>
          <a:xfrm>
            <a:off x="571500" y="2667000"/>
            <a:ext cx="528637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 4's visualization audit identifies that NovaCare's stasis is policy-driven, not clinical. By decoupling discharge planning from partner capacity and restoring ward purity, we unlock a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$1.2M annual throughput gain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61" name="Google Shape;461;p41"/>
          <p:cNvSpPr txBox="1"/>
          <p:nvPr/>
        </p:nvSpPr>
        <p:spPr>
          <a:xfrm>
            <a:off x="571500" y="3823096"/>
            <a:ext cx="5286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Status: Approved for Deployment</a:t>
            </a:r>
            <a:endParaRPr/>
          </a:p>
        </p:txBody>
      </p:sp>
      <p:pic>
        <p:nvPicPr>
          <p:cNvPr descr="image.png" id="462" name="Google Shape;46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5742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1"/>
          <p:cNvSpPr txBox="1"/>
          <p:nvPr/>
        </p:nvSpPr>
        <p:spPr>
          <a:xfrm>
            <a:off x="571500" y="57150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4B8A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Team 4 Analysis Synthesis</a:t>
            </a:r>
            <a:endParaRPr/>
          </a:p>
        </p:txBody>
      </p:sp>
      <p:sp>
        <p:nvSpPr>
          <p:cNvPr id="464" name="Google Shape;464;p41"/>
          <p:cNvSpPr/>
          <p:nvPr/>
        </p:nvSpPr>
        <p:spPr>
          <a:xfrm>
            <a:off x="571500" y="1152525"/>
            <a:ext cx="11049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9" name="Google Shape;46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2"/>
          <p:cNvSpPr txBox="1"/>
          <p:nvPr/>
        </p:nvSpPr>
        <p:spPr>
          <a:xfrm>
            <a:off x="2370534" y="2140297"/>
            <a:ext cx="7450931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4B8A6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471" name="Google Shape;471;p42"/>
          <p:cNvSpPr txBox="1"/>
          <p:nvPr/>
        </p:nvSpPr>
        <p:spPr>
          <a:xfrm>
            <a:off x="2547937" y="3369022"/>
            <a:ext cx="7096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NovaCare Surge Command Center | Phase 3 Visualization Strategy</a:t>
            </a:r>
            <a:endParaRPr/>
          </a:p>
        </p:txBody>
      </p:sp>
      <p:sp>
        <p:nvSpPr>
          <p:cNvPr id="472" name="Google Shape;472;p42"/>
          <p:cNvSpPr txBox="1"/>
          <p:nvPr/>
        </p:nvSpPr>
        <p:spPr>
          <a:xfrm>
            <a:off x="2547937" y="4260502"/>
            <a:ext cx="7096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Team 4 Healthcare Analytics Dossier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www.novacare-systems.health | admin@novacare.health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